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Quantum Clinical Trial Optimization (CT.gov + AWS Braket)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Showcase: large-scale medical dataset ingestion + scenario QUBO + classical vs QAOA vs Braket SV1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Goal: select an optimal subset of clinical trials under budget/risk/feasibility tradeoffs.</a:t>
            </a:r>
          </a:p>
          <a:p>
            <a:pPr>
              <a:defRPr sz="2000"/>
            </a:pPr>
            <a:r>
              <a:t>Data backbone: CT.gov XML corpus (~557k trials) stored in S3; features engineered locally.</a:t>
            </a:r>
          </a:p>
          <a:p>
            <a:pPr>
              <a:defRPr sz="2000"/>
            </a:pPr>
            <a:r>
              <a:t>Optimization: QUBO formulation with binary decision variables xᵢ ∈ {0,1}.</a:t>
            </a:r>
          </a:p>
          <a:p>
            <a:pPr>
              <a:defRPr sz="2000"/>
            </a:pPr>
            <a:r>
              <a:t>Compare: classical baselines vs QAOA robustness sweeps; execute on AWS Braket SV1.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Ingest CT.gov XML from S3 → metadata table (parquet + curated samples).</a:t>
            </a:r>
          </a:p>
          <a:p>
            <a:pPr>
              <a:defRPr sz="2000"/>
            </a:pPr>
            <a:r>
              <a:t>2) Build scenario candidate tables with engineered benefit/cost/safety/feasibility features.</a:t>
            </a:r>
          </a:p>
          <a:p>
            <a:pPr>
              <a:defRPr sz="2000"/>
            </a:pPr>
            <a:r>
              <a:t>3) Construct scenario QUBO and solve classically (baseline).</a:t>
            </a:r>
          </a:p>
          <a:p>
            <a:pPr>
              <a:defRPr sz="2000"/>
            </a:pPr>
            <a:r>
              <a:t>4) Run QAOA locally (optionally Aer) and on AWS Braket SV1 (pooled runs when needed).</a:t>
            </a:r>
          </a:p>
          <a:p>
            <a:pPr>
              <a:defRPr sz="2000"/>
            </a:pPr>
            <a:r>
              <a:t>5) Decode Braket results from S3 without blocking on task.result().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 — Best-by-Method (excerpt)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  <a:gridCol w="557784"/>
              </a:tblGrid>
              <a:tr h="118872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_config_key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jaccard_mean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jaccard_std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lambda_cost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lambda_safety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n_runs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noise_sigma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objective_norm_mean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p__dup1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penalty_A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penalty_A__dup1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pool_size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pool_size__dup1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shots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shots__dup1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K=25|lc=0.5|ls=0.5|sig=0.1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0.0027027027027027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0.0060434269662156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05a_greedy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-1.441677262379783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0.9994572909846188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0.1183585570210227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K=6|lc=0.5|ls=0.5|sig=0.1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0.3636363636363636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05b_qaoa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-1.9512977584245577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0.996849638221898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0.1065275759910408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128.0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K=6|lc=0.5|ls=2.0|sig=0.0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05b2_qaoa_aer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1024.0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 — Greedy Robustness Sweep (excerpt)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129"/>
                <a:gridCol w="858129"/>
                <a:gridCol w="858129"/>
                <a:gridCol w="858129"/>
                <a:gridCol w="858129"/>
                <a:gridCol w="858129"/>
                <a:gridCol w="858129"/>
                <a:gridCol w="858129"/>
                <a:gridCol w="858129"/>
                <a:gridCol w="858129"/>
                <a:gridCol w="858129"/>
                <a:gridCol w="858129"/>
                <a:gridCol w="858132"/>
              </a:tblGrid>
              <a:tr h="432261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config_id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lambda_cost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lambda_safety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noise_sigma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jaccard_vs_baseline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selected_n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total_benefit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total_cost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total_safety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objective_norm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K25_lc0.5_ls0.5_sig0_seed0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14.999999999999998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-10.000000000000002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0.9657227325352588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K25_lc0.5_ls0.5_sig0_seed1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14.999999999999998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-10.000000000000002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0.9657227325352588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K25_lc0.5_ls0.5_sig0_seed2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14.999999999999998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-10.000000000000002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0.9657227325352588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K25_lc0.5_ls0.5_sig0_seed3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14.999999999999998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-10.000000000000002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0.9657227325352588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K25_lc0.5_ls0.5_sig0_seed4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14.999999999999998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-10.000000000000002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0.9657227325352588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K25_lc0.5_ls0.5_sig0.05_seed0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16.492531066785965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44.41538203657595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-5.7151599515020095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0.982612395556124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K25_lc0.5_ls0.5_sig0.05_seed1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16.29762672666003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43.74148343613567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-5.573114991407802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0.9831722977887976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K25_lc0.5_ls0.5_sig0.05_seed2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16.56115224629945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44.42139106062431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-5.649543284012704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0.9828710384435836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K25_lc0.5_ls0.5_sig0.05_seed3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16.350554426545287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44.11523628323948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-5.707063715074455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0.98264430869721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K25_lc0.5_ls0.5_sig0.05_seed4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0.0135135135135135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16.646903860638343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44.524590577637646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-5.61539142818048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0.983005655682504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 — QAOA Robustness Sweep (excerpt)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22"/>
                <a:gridCol w="531240"/>
              </a:tblGrid>
              <a:tr h="432261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config_id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lambda_cost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lambda_safety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noise_sigma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pool_size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penalty_A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shots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jaccard_vs_baseline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best_energy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best_bitstring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gamma_0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beta_0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selected_n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total_benefit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total_cost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total_safety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objective_norm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K6_lc0.5_ls0.5_sig0_seed0_pool12_p1_A10_sh128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0.3636363636363636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0.9853553076471612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K6_lc0.5_ls0.5_sig0_seed1_pool12_p1_A10_sh128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111010101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0.9853553076471612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K6_lc0.5_ls0.5_sig0_seed2_pool12_p1_A10_sh128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0.3636363636363636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101010001011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0.9853553076471612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K6_lc0.5_ls0.5_sig0.05_seed0_pool12_p1_A10_sh128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2.1101875061997264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1111101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3.6619758667658857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11.544326745931222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-2.110187506199725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0.9927793860220162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K6_lc0.5_ls0.5_sig0.05_seed1_pool12_p1_A10_sh128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0.3636363636363636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2.2052023251113897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1010100111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3.685735173457896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11.781874997138573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-2.20520232511139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0.9903454072341348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K6_lc0.5_ls0.5_sig0.05_seed2_pool12_p1_A10_sh128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0.3636363636363636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2.227702623247217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11010110010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3.713679441973513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11.882764130441458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-2.2277026232472164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0.9897690208450336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K6_lc0.5_ls0.5_sig0.1_seed0_pool12_p1_A10_sh128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0.3636363636363636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1.8283176177006712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10001101101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3.7230092860510737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11.10265380750349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-1.8283176177006712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K6_lc0.5_ls0.5_sig0.1_seed1_pool12_p1_A10_sh128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0.3636363636363636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2.01054323813857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1010100111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3.773833176415564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11.568752829108266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-2.010543238138569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0.9953319566375568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K6_lc0.5_ls0.5_sig0.1_seed2_pool12_p1_A10_sh128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0.3636363636363636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2.015032419434433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0.9000000000000001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3.800993643663909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11.632052126196683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-2.0150324194344327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0.995216958028137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K6_lc0.5_ls1_sig0_seed0_pool12_p1_A10_sh128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0.3636363636363636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0.9853553076471612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B — Classical Baseline (summary)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115568"/>
                <a:gridCol w="1115568"/>
                <a:gridCol w="1115568"/>
                <a:gridCol w="1115568"/>
                <a:gridCol w="1115568"/>
                <a:gridCol w="1115568"/>
                <a:gridCol w="1115568"/>
                <a:gridCol w="1115568"/>
                <a:gridCol w="1115568"/>
              </a:tblGrid>
              <a:tr h="23774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n_candidates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lambda_cost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lambda_safety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penalty_A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selected_n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qubo_energy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linear_objective_only</a:t>
                      </a:r>
                    </a:p>
                  </a:txBody>
                  <a:tcPr/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classical_greedy_fixK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B — AWS Braket SV1 (decoded best)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Best bitstring: 0100010010110100000101000001001000</a:t>
            </a:r>
          </a:p>
          <a:p>
            <a:pPr>
              <a:defRPr sz="2000"/>
            </a:pPr>
            <a:r>
              <a:t>Energy (full/sub if present): -990.0</a:t>
            </a:r>
          </a:p>
          <a:p>
            <a:pPr>
              <a:defRPr sz="2000"/>
            </a:pPr>
            <a:r>
              <a:t>Measured qubits: 34</a:t>
            </a:r>
          </a:p>
          <a:p>
            <a:pPr>
              <a:defRPr sz="2000"/>
            </a:pPr>
            <a:r>
              <a:t>S3 key: clinical-trials-data/results/sv1_tasks/scenario_B/78808096-278b-4669-b656-361c3d963aec/results.json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B — Best-by-Method (excerpt)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52"/>
                <a:gridCol w="1014152"/>
                <a:gridCol w="1014152"/>
                <a:gridCol w="1014152"/>
                <a:gridCol w="1014152"/>
                <a:gridCol w="1014152"/>
                <a:gridCol w="1014152"/>
                <a:gridCol w="1014152"/>
                <a:gridCol w="1014152"/>
                <a:gridCol w="1014152"/>
                <a:gridCol w="10141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lambda_cost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lambda_safety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noise_sigma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jaccard_mean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jaccard_std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n_runs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objective_norm_mean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1.1483921600894247e-10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1.1483921600894247e-10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1.1483921600894247e-10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0.2500000000861224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0.2500000000861224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0.2500000000861224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0.7500000000286888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0.7500000000286888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0.7500000000286888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1.1483921600894247e-10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qaoa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0.7777777777777777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0.1571348402636772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0.9999999999999608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qaoa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0.7777777777777777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0.1571348402636772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0.9999999999999608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C — Classical Baseline (summary)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</a:tblGrid>
              <a:tr h="23774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n_candidates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objective_energy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selected_n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unique_sponsors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safety_col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qubo_path</a:t>
                      </a:r>
                    </a:p>
                  </a:txBody>
                  <a:tcPr/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-420.0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_safety_raw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data/qubo_scenarios/scenario_C_qubo.json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C — Braket SV1 (best JSON)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Bitstring: (missing)</a:t>
            </a:r>
          </a:p>
          <a:p>
            <a:pPr>
              <a:defRPr sz="2000"/>
            </a:pPr>
            <a:r>
              <a:t>Energy: -2600.0</a:t>
            </a:r>
          </a:p>
          <a:p>
            <a:pPr>
              <a:defRPr sz="2000"/>
            </a:pPr>
            <a:r>
              <a:t>S3 key: clinical-trials-data/results/sv1_tasks/scenario_C/6c4d0b7d-e177-4382-8196-6664f3eb3f14/results.json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C — Resume/Decode from S3 (10d)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Scoring mode: frequency</a:t>
            </a:r>
          </a:p>
          <a:p>
            <a:pPr>
              <a:defRPr sz="2000"/>
            </a:pPr>
            <a:r>
              <a:t>Support: 2</a:t>
            </a:r>
          </a:p>
          <a:p>
            <a:pPr>
              <a:defRPr sz="2000"/>
            </a:pPr>
            <a:r>
              <a:t>Energy sub-QUBO: (missing)</a:t>
            </a:r>
          </a:p>
          <a:p>
            <a:pPr>
              <a:defRPr sz="2000"/>
            </a:pPr>
            <a:r>
              <a:t>S3 results.json key: clinical-trials-data/results/sv1_tasks/scenario_C/04b33e82-35e9-418f-872b-25a7012f6bac/results.json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Demonstrates quantum methods on AWS using a large, complex medical dataset pipeline (non-HIPAA).</a:t>
            </a:r>
          </a:p>
          <a:p>
            <a:pPr>
              <a:defRPr sz="2000"/>
            </a:pPr>
            <a:r>
              <a:t>QUBO formulation enables classical and quantum solvers to be compared on identical objectives.</a:t>
            </a:r>
          </a:p>
          <a:p>
            <a:pPr>
              <a:defRPr sz="2000"/>
            </a:pPr>
            <a:r>
              <a:t>Robustness sweeps highlight stability/overlap, not just single-run best objective.</a:t>
            </a:r>
          </a:p>
          <a:p>
            <a:pPr>
              <a:defRPr sz="2000"/>
            </a:pPr>
            <a:r>
              <a:t>Braket SV1 results are decoded from S3 for reliability and reproducibility.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Finalize README with a crisp runbook + cost notes + architecture diagram.</a:t>
            </a:r>
          </a:p>
          <a:p>
            <a:pPr>
              <a:defRPr sz="2000"/>
            </a:pPr>
            <a:r>
              <a:t>Add one “smoke test” notebook to validate reproducibility in &lt;5 minutes.</a:t>
            </a:r>
          </a:p>
          <a:p>
            <a:pPr>
              <a:defRPr sz="2000"/>
            </a:pPr>
            <a:r>
              <a:t>Extend Scenario D (or refine Scenario C) and run a larger Braket sweep (controlled budget).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