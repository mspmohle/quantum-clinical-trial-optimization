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/>
              <a:t>Quantum Clinical Trial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05050"/>
                </a:solidFill>
              </a:rPr>
              <a:t>CT.gov-scale data → scenario QUBOs → classical vs QAOA (local + AWS Braket SV1)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/>
            </a:pPr>
            <a:r>
              <a:t>Goal: demonstrate quantum-ready optimization on large, public medical datasets (non-HIPAA).</a:t>
            </a:r>
          </a:p>
          <a:p>
            <a:pPr>
              <a:spcAft>
                <a:spcPts val="400"/>
              </a:spcAft>
              <a:defRPr sz="2000"/>
            </a:pPr>
            <a:r>
              <a:t>Approach: build scenarios from CT.gov, encode selection as a QUBO portfolio problem, benchmark solvers.</a:t>
            </a:r>
          </a:p>
          <a:p>
            <a:pPr>
              <a:spcAft>
                <a:spcPts val="400"/>
              </a:spcAft>
              <a:defRPr sz="2000"/>
            </a:pPr>
            <a:r>
              <a:t>Outputs: reproducible notebooks + artifacts (CSV/JSON) + figures + SV1 task results in S3.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Repository: quantum-clinical-trial-optimization • Deck: 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/>
              <a:t>Data &amp; Pipeline (end-to-end)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20040"/>
            <a:ext cx="1417320" cy="411480"/>
          </a:xfrm>
          <a:prstGeom prst="roundRect">
            <a:avLst/>
          </a:prstGeom>
          <a:solidFill>
            <a:srgbClr val="F0F0F0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A5A5A"/>
                </a:solidFill>
              </a:defRPr>
            </a:pPr>
            <a: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/>
            </a:pPr>
            <a:r>
              <a:t>Ingest: ~557k CT.gov XML trial records stored in Amazon S3 (us-west-2).</a:t>
            </a:r>
          </a:p>
          <a:p>
            <a:pPr>
              <a:spcAft>
                <a:spcPts val="400"/>
              </a:spcAft>
              <a:defRPr sz="1800"/>
            </a:pPr>
            <a:r>
              <a:t>Parse + extract metadata locally (concurrent extraction) into Parquet; keep small samples in Git.</a:t>
            </a:r>
          </a:p>
          <a:p>
            <a:pPr>
              <a:spcAft>
                <a:spcPts val="400"/>
              </a:spcAft>
              <a:defRPr sz="1800"/>
            </a:pPr>
            <a:r>
              <a:t>Feature layer: sponsor, phase/status, cost proxy, safety proxy, feasibility/region features.</a:t>
            </a:r>
          </a:p>
          <a:p>
            <a:pPr>
              <a:spcAft>
                <a:spcPts val="400"/>
              </a:spcAft>
              <a:defRPr sz="1800"/>
            </a:pPr>
            <a:r>
              <a:t>Scenarios (A/B/C): candidate pools + exports for optimization and benchmarking.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/>
              <a:t>Optimization Framing (QUBO)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20040"/>
            <a:ext cx="1417320" cy="411480"/>
          </a:xfrm>
          <a:prstGeom prst="roundRect">
            <a:avLst/>
          </a:prstGeom>
          <a:solidFill>
            <a:srgbClr val="F0F0F0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A5A5A"/>
                </a:solidFill>
              </a:defRPr>
            </a:pPr>
            <a: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/>
            </a:pPr>
            <a:r>
              <a:t>Decision variables: xᵢ ∈ {0,1} indicates whether trial i is selected.</a:t>
            </a:r>
          </a:p>
          <a:p>
            <a:pPr>
              <a:spcAft>
                <a:spcPts val="400"/>
              </a:spcAft>
              <a:defRPr sz="1800"/>
            </a:pPr>
            <a:r>
              <a:t>Objective: benefit − λ_cost·cost − λ_safety·risk, implemented as energy minimization.</a:t>
            </a:r>
          </a:p>
          <a:p>
            <a:pPr>
              <a:spcAft>
                <a:spcPts val="400"/>
              </a:spcAft>
              <a:defRPr sz="1800"/>
            </a:pPr>
            <a:r>
              <a:t>Constraints: portfolio size and rules expressed via quadratic penalties (A·terms).</a:t>
            </a:r>
          </a:p>
          <a:p>
            <a:pPr>
              <a:spcAft>
                <a:spcPts val="400"/>
              </a:spcAft>
              <a:defRPr sz="1800"/>
            </a:pPr>
            <a:r>
              <a:t>Stable variable ordering enables deterministic bitstring → NCT ID decoding.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Executive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/>
              <a:t>Solver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20040"/>
            <a:ext cx="1417320" cy="411480"/>
          </a:xfrm>
          <a:prstGeom prst="roundRect">
            <a:avLst/>
          </a:prstGeom>
          <a:solidFill>
            <a:srgbClr val="F0F0F0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A5A5A"/>
                </a:solidFill>
              </a:defRPr>
            </a:pPr>
            <a:r>
              <a:t>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/>
            </a:pPr>
            <a:r>
              <a:t>Classical baseline: greedy / heuristic (and exact when small).</a:t>
            </a:r>
          </a:p>
          <a:p>
            <a:pPr>
              <a:spcAft>
                <a:spcPts val="400"/>
              </a:spcAft>
              <a:defRPr sz="1700"/>
            </a:pPr>
            <a:r>
              <a:t>QAOA p=1 sweeps: γ/β grid search; stability via Jaccard overlap vs baseline selection.</a:t>
            </a:r>
          </a:p>
          <a:p>
            <a:pPr>
              <a:spcAft>
                <a:spcPts val="400"/>
              </a:spcAft>
              <a:defRPr sz="1700"/>
            </a:pPr>
            <a:r>
              <a:t>AWS Braket SV1: cloud circuit execution; results persisted to amazon-braket-* S3 bucket.</a:t>
            </a:r>
          </a:p>
          <a:p>
            <a:pPr>
              <a:spcAft>
                <a:spcPts val="400"/>
              </a:spcAft>
              <a:defRPr sz="1700"/>
            </a:pPr>
            <a:r>
              <a:t>SV1 qubit limit (34): pool-based sub-QUBO strategy for larger scenarios.</a:t>
            </a:r>
          </a:p>
        </p:txBody>
      </p:sp>
      <p:pic>
        <p:nvPicPr>
          <p:cNvPr id="5" name="Picture 4" descr="parameter_heatmap_p1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52852"/>
            <a:ext cx="5120640" cy="39867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Executive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/>
              <a:t>Scenario A: Robustness + Cross-Method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20040"/>
            <a:ext cx="1417320" cy="411480"/>
          </a:xfrm>
          <a:prstGeom prst="roundRect">
            <a:avLst/>
          </a:prstGeom>
          <a:solidFill>
            <a:srgbClr val="F0F0F0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A5A5A"/>
                </a:solidFill>
              </a:defRPr>
            </a:pPr>
            <a:r>
              <a:t>Results</a:t>
            </a:r>
          </a:p>
        </p:txBody>
      </p:sp>
      <p:pic>
        <p:nvPicPr>
          <p:cNvPr id="4" name="Picture 3" descr="05c2_best_objective_by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1024128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/>
            </a:pPr>
            <a:r>
              <a:t>Scenario A classical baseline selected_n=-1.</a:t>
            </a:r>
          </a:p>
          <a:p>
            <a:pPr>
              <a:spcAft>
                <a:spcPts val="400"/>
              </a:spcAft>
              <a:defRPr sz="1200"/>
            </a:pPr>
            <a:r>
              <a:t>Greedy vs QAOA (sim + Aer) compared on objective quality and stability across noise/λ settings.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Executive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/>
              <a:t>Scenario B: Robustness + Braket SV1 Run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20040"/>
            <a:ext cx="1417320" cy="411480"/>
          </a:xfrm>
          <a:prstGeom prst="roundRect">
            <a:avLst/>
          </a:prstGeom>
          <a:solidFill>
            <a:srgbClr val="F0F0F0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A5A5A"/>
                </a:solidFill>
              </a:defRPr>
            </a:pPr>
            <a:r>
              <a:t>Results</a:t>
            </a:r>
          </a:p>
        </p:txBody>
      </p:sp>
      <p:pic>
        <p:nvPicPr>
          <p:cNvPr id="4" name="Picture 3" descr="07c_scenario_B_objective_vs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31670"/>
            <a:ext cx="5577840" cy="4183380"/>
          </a:xfrm>
          <a:prstGeom prst="rect">
            <a:avLst/>
          </a:prstGeom>
        </p:spPr>
      </p:pic>
      <p:pic>
        <p:nvPicPr>
          <p:cNvPr id="5" name="Picture 4" descr="sv1_sampling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737889"/>
            <a:ext cx="5212080" cy="25709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/>
            </a:pPr>
            <a:r>
              <a:t>Scenario B classical baseline selected_n=10.</a:t>
            </a:r>
          </a:p>
          <a:p>
            <a:pPr>
              <a:spcAft>
                <a:spcPts val="400"/>
              </a:spcAft>
              <a:defRPr sz="1200"/>
            </a:pPr>
            <a:r>
              <a:t>SV1 summary: n_pool=34, shots=-1 (per run).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Executive Summary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/>
              <a:t>Scenario C: Scaling Under SV1 Qubit Limits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20040"/>
            <a:ext cx="1417320" cy="411480"/>
          </a:xfrm>
          <a:prstGeom prst="roundRect">
            <a:avLst/>
          </a:prstGeom>
          <a:solidFill>
            <a:srgbClr val="F0F0F0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A5A5A"/>
                </a:solidFill>
              </a:defRPr>
            </a:pPr>
            <a:r>
              <a:t>Results</a:t>
            </a:r>
          </a:p>
        </p:txBody>
      </p:sp>
      <p:pic>
        <p:nvPicPr>
          <p:cNvPr id="4" name="Picture 3" descr="09d_scenario_C_compare_selected_count_and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31670"/>
            <a:ext cx="5577840" cy="4183380"/>
          </a:xfrm>
          <a:prstGeom prst="rect">
            <a:avLst/>
          </a:prstGeom>
        </p:spPr>
      </p:pic>
      <p:pic>
        <p:nvPicPr>
          <p:cNvPr id="5" name="Picture 4" descr="09c_sv1_energy_hist_poo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068830"/>
            <a:ext cx="5212080" cy="39090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/>
            </a:pPr>
            <a:r>
              <a:t>Scenario C: classical selected_n=-1, SV1 selected_n=-1.</a:t>
            </a:r>
          </a:p>
          <a:p>
            <a:pPr>
              <a:spcAft>
                <a:spcPts val="400"/>
              </a:spcAft>
              <a:defRPr sz="1200"/>
            </a:pPr>
            <a:r>
              <a:t>Pool strategy: n_full=60 → n_pool=34 to fit SV1.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Executive Summary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/>
              <a:t>Key Takeaways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20040"/>
            <a:ext cx="1417320" cy="411480"/>
          </a:xfrm>
          <a:prstGeom prst="roundRect">
            <a:avLst/>
          </a:prstGeom>
          <a:solidFill>
            <a:srgbClr val="F0F0F0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A5A5A"/>
                </a:solidFill>
              </a:defRPr>
            </a:pPr>
            <a: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/>
            </a:pPr>
            <a:r>
              <a:t>End-to-end demo: large S3 corpus → scenarios → QUBO → solver benchmarks.</a:t>
            </a:r>
          </a:p>
          <a:p>
            <a:pPr>
              <a:spcAft>
                <a:spcPts val="400"/>
              </a:spcAft>
              <a:defRPr sz="2000"/>
            </a:pPr>
            <a:r>
              <a:t>Robustness sweeps quantify quality vs stability (energy + Jaccard overlap).</a:t>
            </a:r>
          </a:p>
          <a:p>
            <a:pPr>
              <a:spcAft>
                <a:spcPts val="400"/>
              </a:spcAft>
              <a:defRPr sz="2000"/>
            </a:pPr>
            <a:r>
              <a:t>Braket SV1 integration persists results to S3; decoding pipeline reconstructs best portfolios.</a:t>
            </a:r>
          </a:p>
          <a:p>
            <a:pPr>
              <a:spcAft>
                <a:spcPts val="400"/>
              </a:spcAft>
              <a:defRPr sz="2000"/>
            </a:pPr>
            <a:r>
              <a:t>Next: p&gt;1 QAOA, smarter pooling/partitioning, optional TN1 runs, cost tracking automation.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Executive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