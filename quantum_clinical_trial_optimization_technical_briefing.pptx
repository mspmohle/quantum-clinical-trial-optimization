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Quantum Clinical Trial Optimization —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Implementation details: data ingestion, scenario layer, QUBO build, QAOA (local + AWS Braket SV1),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Audience: technical stakeholders (data engineering + optimization + quantum simulation).</a:t>
            </a:r>
          </a:p>
          <a:p>
            <a:pPr>
              <a:spcAft>
                <a:spcPts val="400"/>
              </a:spcAft>
              <a:defRPr sz="2000"/>
            </a:pPr>
            <a:r>
              <a:t>Repo is notebook-driven with reproducible artifacts (CSV/JSON) and visual diagnostics.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CT.gov Ingestion &amp; Storage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Raw source: CT.gov XML corpus stored in S3; local workflows parse and persist metadata.</a:t>
            </a:r>
          </a:p>
          <a:p>
            <a:pPr>
              <a:spcAft>
                <a:spcPts val="400"/>
              </a:spcAft>
              <a:defRPr sz="1600"/>
            </a:pPr>
            <a:r>
              <a:t>High-performance extraction: concurrent parsing into Parquet for downstream analytics.</a:t>
            </a:r>
          </a:p>
          <a:p>
            <a:pPr>
              <a:spcAft>
                <a:spcPts val="400"/>
              </a:spcAft>
              <a:defRPr sz="1600"/>
            </a:pPr>
            <a:r>
              <a:t>Git policy: do not commit large/raw/interim layers; keep small samples + summaries.</a:t>
            </a:r>
          </a:p>
        </p:txBody>
      </p:sp>
      <p:pic>
        <p:nvPicPr>
          <p:cNvPr id="5" name="Picture 4" descr="quantum_vs_classical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6872"/>
            <a:ext cx="5120640" cy="3924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Candidate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Candidate tables unify identifiers (NCT ID), sponsor normalization, and scenario filters.</a:t>
            </a:r>
          </a:p>
          <a:p>
            <a:pPr>
              <a:spcAft>
                <a:spcPts val="400"/>
              </a:spcAft>
              <a:defRPr sz="1600"/>
            </a:pPr>
            <a:r>
              <a:t>Engineered features: benefit proxy, cost proxy, safety proxy, feasibility/region and pool scores.</a:t>
            </a:r>
          </a:p>
          <a:p>
            <a:pPr>
              <a:spcAft>
                <a:spcPts val="400"/>
              </a:spcAft>
              <a:defRPr sz="1600"/>
            </a:pPr>
            <a:r>
              <a:t>Exports: scenario candidate CSVs + selection-ready columns for optimization.</a:t>
            </a:r>
          </a:p>
        </p:txBody>
      </p:sp>
      <p:pic>
        <p:nvPicPr>
          <p:cNvPr id="5" name="Picture 4" descr="09a_scenario_C_top_spo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QUBO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QUBO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Binary selection model: minimize energy E(x)=xᵀQx (QUBO matrix) with constraint penalties.</a:t>
            </a:r>
          </a:p>
          <a:p>
            <a:pPr>
              <a:spcAft>
                <a:spcPts val="400"/>
              </a:spcAft>
              <a:defRPr sz="1600"/>
            </a:pPr>
            <a:r>
              <a:t>Penalty A enforces portfolio-size and rules; λ_cost/λ_safety tune trade-offs.</a:t>
            </a:r>
          </a:p>
          <a:p>
            <a:pPr>
              <a:spcAft>
                <a:spcPts val="400"/>
              </a:spcAft>
              <a:defRPr sz="1600"/>
            </a:pPr>
            <a:r>
              <a:t>Stable variable ordering ensures deterministic bitstring → trial ID decoding.</a:t>
            </a:r>
          </a:p>
        </p:txBody>
      </p:sp>
      <p:pic>
        <p:nvPicPr>
          <p:cNvPr id="5" name="Picture 4" descr="04_expected_qubo_cost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Classical Baseline Solvers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Greedy/heuristic baseline used when exact enumeration is infeasible.</a:t>
            </a:r>
          </a:p>
          <a:p>
            <a:pPr>
              <a:spcAft>
                <a:spcPts val="400"/>
              </a:spcAft>
              <a:defRPr sz="1600"/>
            </a:pPr>
            <a:r>
              <a:t>Artifacts: best bitstring + selected trials CSV + summary metrics.</a:t>
            </a:r>
          </a:p>
          <a:p>
            <a:pPr>
              <a:spcAft>
                <a:spcPts val="400"/>
              </a:spcAft>
              <a:defRPr sz="1600"/>
            </a:pPr>
            <a:r>
              <a:t>Baselines: A selected_n=-1; B selected_n=10; C selected_n=10.</a:t>
            </a:r>
          </a:p>
        </p:txBody>
      </p:sp>
      <p:pic>
        <p:nvPicPr>
          <p:cNvPr id="5" name="Picture 4" descr="04_selected_count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QAOA Parameter Sweep (p=1)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QAOA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Local QAOA: build Ising form (h,J) and run γ/β sweeps; score by decoded energy and stability.</a:t>
            </a:r>
          </a:p>
          <a:p>
            <a:pPr>
              <a:spcAft>
                <a:spcPts val="400"/>
              </a:spcAft>
              <a:defRPr sz="1600"/>
            </a:pPr>
            <a:r>
              <a:t>Diagnostic plots: heatmaps (objective energy) + Jaccard overlap vs baseline selection.</a:t>
            </a:r>
          </a:p>
          <a:p>
            <a:pPr>
              <a:spcAft>
                <a:spcPts val="400"/>
              </a:spcAft>
              <a:defRPr sz="1600"/>
            </a:pPr>
            <a:r>
              <a:t>Aer provides local reference; Braket SV1 provides cloud execution with S3 outputs.</a:t>
            </a:r>
          </a:p>
        </p:txBody>
      </p:sp>
      <p:pic>
        <p:nvPicPr>
          <p:cNvPr id="5" name="Picture 4" descr="parameter_heatmap_p1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75712"/>
            <a:ext cx="5120640" cy="3986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Refinement Runs &amp; Convergence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Refinement: narrow sweep ranges around promising γ/β regions.</a:t>
            </a:r>
          </a:p>
          <a:p>
            <a:pPr>
              <a:spcAft>
                <a:spcPts val="400"/>
              </a:spcAft>
              <a:defRPr sz="1600"/>
            </a:pPr>
            <a:r>
              <a:t>Convergence curve: best energy found as sweep progresses.</a:t>
            </a:r>
          </a:p>
        </p:txBody>
      </p:sp>
      <p:pic>
        <p:nvPicPr>
          <p:cNvPr id="5" name="Picture 4" descr="qaoa_converge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84017"/>
            <a:ext cx="5120640" cy="3170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A Robustness Sweeps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Grid over (K, λ_cost, λ_safety, noise_sigma) to assess sensitivity.</a:t>
            </a:r>
          </a:p>
          <a:p>
            <a:pPr>
              <a:spcAft>
                <a:spcPts val="400"/>
              </a:spcAft>
              <a:defRPr sz="1600"/>
            </a:pPr>
            <a:r>
              <a:t>Stability: Jaccard overlap of selected sets vs baseline selection.</a:t>
            </a:r>
          </a:p>
          <a:p>
            <a:pPr>
              <a:spcAft>
                <a:spcPts val="400"/>
              </a:spcAft>
              <a:defRPr sz="1600"/>
            </a:pPr>
            <a:r>
              <a:t>Objective: best decoded QUBO energy per config (mean/std across seeds).</a:t>
            </a:r>
          </a:p>
        </p:txBody>
      </p:sp>
      <p:pic>
        <p:nvPicPr>
          <p:cNvPr id="5" name="Picture 4" descr="05b_qaoa_objectiv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10" y="1645920"/>
            <a:ext cx="3497580" cy="2331720"/>
          </a:xfrm>
          <a:prstGeom prst="rect">
            <a:avLst/>
          </a:prstGeom>
        </p:spPr>
      </p:pic>
      <p:pic>
        <p:nvPicPr>
          <p:cNvPr id="6" name="Picture 5" descr="05b_qaoa_jaccard_vs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4160520"/>
            <a:ext cx="3730752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A: Cross-Method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Aggregate across configs and compare best-by-method objective and stability.</a:t>
            </a:r>
          </a:p>
          <a:p>
            <a:pPr>
              <a:spcAft>
                <a:spcPts val="400"/>
              </a:spcAft>
              <a:defRPr sz="1600"/>
            </a:pPr>
            <a:r>
              <a:t>Overlap heatmap highlights convergence vs divergence in portfolios.</a:t>
            </a:r>
          </a:p>
        </p:txBody>
      </p:sp>
      <p:pic>
        <p:nvPicPr>
          <p:cNvPr id="5" name="Picture 4" descr="05c2_objective_vs_stabil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96" y="1645920"/>
            <a:ext cx="3264408" cy="2331720"/>
          </a:xfrm>
          <a:prstGeom prst="rect">
            <a:avLst/>
          </a:prstGeom>
        </p:spPr>
      </p:pic>
      <p:pic>
        <p:nvPicPr>
          <p:cNvPr id="6" name="Picture 5" descr="05c2_jaccard_overlap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58284"/>
            <a:ext cx="5120640" cy="1536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B Robustness Sweeps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Applied robustness sweeps to an alternate scenario slice.</a:t>
            </a:r>
          </a:p>
          <a:p>
            <a:pPr>
              <a:spcAft>
                <a:spcPts val="400"/>
              </a:spcAft>
              <a:defRPr sz="1600"/>
            </a:pPr>
            <a:r>
              <a:t>Primary plots: objective vs noise; objective vs stability (Jaccard).</a:t>
            </a:r>
          </a:p>
        </p:txBody>
      </p:sp>
      <p:pic>
        <p:nvPicPr>
          <p:cNvPr id="5" name="Picture 4" descr="07c_scenario_B_objective_vs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3108960" cy="2331720"/>
          </a:xfrm>
          <a:prstGeom prst="rect">
            <a:avLst/>
          </a:prstGeom>
        </p:spPr>
      </p:pic>
      <p:pic>
        <p:nvPicPr>
          <p:cNvPr id="6" name="Picture 5" descr="07c_scenario_B_objective_vs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60520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AWS Braket SV1 Execution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Braket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Submit circuits to SV1; results stored in an amazon-braket-* bucket (service-managed).</a:t>
            </a:r>
          </a:p>
          <a:p>
            <a:pPr>
              <a:spcAft>
                <a:spcPts val="400"/>
              </a:spcAft>
              <a:defRPr sz="1600"/>
            </a:pPr>
            <a:r>
              <a:t>Workflow: submit tasks → record ARNs → decode results.json from S3 to portfolios.</a:t>
            </a:r>
          </a:p>
          <a:p>
            <a:pPr>
              <a:spcAft>
                <a:spcPts val="400"/>
              </a:spcAft>
              <a:defRPr sz="1600"/>
            </a:pPr>
            <a:r>
              <a:t>Operational gotchas: bucket restrictions, polling/resume, region/time skew handling.</a:t>
            </a:r>
          </a:p>
        </p:txBody>
      </p:sp>
      <p:pic>
        <p:nvPicPr>
          <p:cNvPr id="5" name="Picture 4" descr="sv1_sampl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6161"/>
            <a:ext cx="5120640" cy="2525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SV1 Qubit Cap (34) → Pool-Based Sub-QUBO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Scenario C example: n_full=60 variables, pooled to n_pool=34.</a:t>
            </a:r>
          </a:p>
          <a:p>
            <a:pPr>
              <a:spcAft>
                <a:spcPts val="400"/>
              </a:spcAft>
              <a:defRPr sz="1600"/>
            </a:pPr>
            <a:r>
              <a:t>Pool: choose a high-signal subset to fit device; decode pooled bitstring back to full space.</a:t>
            </a:r>
          </a:p>
          <a:p>
            <a:pPr>
              <a:spcAft>
                <a:spcPts val="400"/>
              </a:spcAft>
              <a:defRPr sz="1600"/>
            </a:pPr>
            <a:r>
              <a:t>Compare trends and stability; pooling alters the reachable search space.</a:t>
            </a:r>
          </a:p>
        </p:txBody>
      </p:sp>
      <p:pic>
        <p:nvPicPr>
          <p:cNvPr id="5" name="Picture 4" descr="09c_sv1_energy_hist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Scenario C: Classical vs SV1 (Pooled)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Scenario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Selections: classical selected_n=-1; SV1 selected_n=-1.</a:t>
            </a:r>
          </a:p>
          <a:p>
            <a:pPr>
              <a:spcAft>
                <a:spcPts val="400"/>
              </a:spcAft>
              <a:defRPr sz="1600"/>
            </a:pPr>
            <a:r>
              <a:t>Energy (QUBO): classical=nan; SV1 best=nan.</a:t>
            </a:r>
          </a:p>
          <a:p>
            <a:pPr>
              <a:spcAft>
                <a:spcPts val="400"/>
              </a:spcAft>
              <a:defRPr sz="1600"/>
            </a:pPr>
            <a:r>
              <a:t>Interpretation: pooling changes the search space; evaluate feasibility + stability alongside energy.</a:t>
            </a:r>
          </a:p>
        </p:txBody>
      </p:sp>
      <p:pic>
        <p:nvPicPr>
          <p:cNvPr id="5" name="Picture 4" descr="09d_scenario_C_compare_selected_count_and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Metrics &amp;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Jaccard overlap quantifies stability under parameter/noise changes.</a:t>
            </a:r>
          </a:p>
          <a:p>
            <a:pPr>
              <a:spcAft>
                <a:spcPts val="400"/>
              </a:spcAft>
              <a:defRPr sz="1600"/>
            </a:pPr>
            <a:r>
              <a:t>Selected-count plots validate constraint enforcement + penalty calibration.</a:t>
            </a:r>
          </a:p>
          <a:p>
            <a:pPr>
              <a:spcAft>
                <a:spcPts val="400"/>
              </a:spcAft>
              <a:defRPr sz="1600"/>
            </a:pPr>
            <a:r>
              <a:t>Pairwise overlap helps detect multiple near-optimal portfolio basins.</a:t>
            </a:r>
          </a:p>
        </p:txBody>
      </p:sp>
      <p:pic>
        <p:nvPicPr>
          <p:cNvPr id="5" name="Picture 4" descr="04_pairwise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/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417320" cy="411480"/>
          </a:xfrm>
          <a:prstGeom prst="roundRect">
            <a:avLst/>
          </a:prstGeom>
          <a:solidFill>
            <a:srgbClr val="F0F0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5A5A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Batch Braket submissions (or Braket Jobs) for larger sweeps; add automated cost/runtime reporting.</a:t>
            </a:r>
          </a:p>
          <a:p>
            <a:pPr>
              <a:spcAft>
                <a:spcPts val="400"/>
              </a:spcAft>
              <a:defRPr sz="1600"/>
            </a:pPr>
            <a:r>
              <a:t>Explore p&gt;1 QAOA and alternative decompositions (partitioned QUBOs).</a:t>
            </a:r>
          </a:p>
          <a:p>
            <a:pPr>
              <a:spcAft>
                <a:spcPts val="400"/>
              </a:spcAft>
              <a:defRPr sz="1600"/>
            </a:pPr>
            <a:r>
              <a:t>Optional: TN1/DM1 runs and noise-model comparisons; smarter pooling strategies.</a:t>
            </a:r>
          </a:p>
        </p:txBody>
      </p:sp>
      <p:pic>
        <p:nvPicPr>
          <p:cNvPr id="5" name="Picture 4" descr="final_qaoa_vs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38241"/>
            <a:ext cx="5120640" cy="4061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Technical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